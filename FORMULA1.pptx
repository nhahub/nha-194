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7" r:id="rId9"/>
    <p:sldId id="266" r:id="rId10"/>
    <p:sldId id="268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09B3F-0A49-4378-AE87-FB3C4C1B3A02}" v="77" dt="2025-12-11T13:06:02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13" autoAdjust="0"/>
    <p:restoredTop sz="94660"/>
  </p:normalViewPr>
  <p:slideViewPr>
    <p:cSldViewPr snapToGrid="0">
      <p:cViewPr varScale="1">
        <p:scale>
          <a:sx n="72" d="100"/>
          <a:sy n="72" d="100"/>
        </p:scale>
        <p:origin x="7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881B36A-2C8D-CE82-EBC2-CA61A3076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2C650241-DD4B-FF07-CCFB-E2706705E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1A7D2D1-C8CF-70FA-1933-83CEB9EE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DAAEBEF-F1AE-C20A-4363-67773605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8DFAD8B-B0D0-90D6-A825-C31CA59A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9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6BB33FC-76CA-938B-E388-B85BE5B3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FDBB8AA-13B6-CF1A-6743-F95FB6EA9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18B0601-7E46-1C7B-FE3C-9012A9D4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C46A05B-3E65-AEB8-ED9B-C0131796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3AA0220-C011-B8F7-6860-7B6C81DA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8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1FA9E3A-D088-A022-E3FB-A872271D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6B9751B-63A8-465A-23DE-91B9090E0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7E393E3-39BC-A940-4403-2C5B73F9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748B5FA-D19A-EB7B-4D26-EAEB2D3A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B8F0E4F-7878-3BAA-3C34-C11D4EEE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3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AEA06B7-E675-3D34-54AE-A04A1E0C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704B19F-AF0B-4CA1-7BD5-7F1E31A32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8EE8BC7-E03B-62F9-7D6B-8559E011C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ABC1108-D4B2-2589-7E19-51076A8D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99BA329-A36F-84D6-B75F-696B1BF3F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BC0A9784-665D-98E6-0EAC-57B7E590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0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2B7D457-313D-DA48-CDA5-E1471C9BE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43A3681-2045-AB76-3C6B-AF3274774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DF2C063-A332-00FB-FBE5-8BEEF4BD6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02C49065-1BF3-5577-959E-4BB16C33E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B230A12D-86F4-3552-9F10-9ACC4FF6E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2F4C9CEE-AF88-D58E-C831-B9A99919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0A68075E-0BE9-5BE4-CB06-3C20035DD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E0E05DB0-D199-8361-259A-0E2605CC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0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423CED7-FE36-B395-DD5F-DF6BCD70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F4787453-2CFC-1EF9-3F3B-8E29AB33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B681E3C-FB3A-5CFC-209D-8C92D9E4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F7848B0E-44FC-A5FD-8811-4A15A144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3D7717E4-8D33-A769-40F5-A6D2798A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10C97269-6AEB-69A4-7BE0-4619D81C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12BC096-8967-A28B-B324-6919E573C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5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6973026-147F-8416-F158-FE2CE241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6260871-F080-CF0D-7132-5615E1EF1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53BBE451-285A-3AEA-3752-CF76C1215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FFCC73C-63F0-9D86-D35B-BBC519D9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E17E6C4-33C0-884E-AC88-44D704DB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2774C9F7-35AB-9791-0DA9-DE608466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A5A57EF-247D-82AD-BED0-020000C7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B29018CD-23CB-6691-A84D-128E3515F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AC27FB7-A340-5105-A411-2316F6B34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446FCFE-B3CB-3410-4139-1814C9DD4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A15EBA6-593B-3636-A4BF-5F400C17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061639C-84BA-2872-3510-64872005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5829927-AE24-368F-678B-587B623F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FBBABF2-0AF0-5CD6-4CC3-C83C28F54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26E0553-788D-BA28-5189-73419127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E0BCDC-445B-EB11-7CCD-13214368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BC8836B-E664-1C6A-37AB-D8176169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2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DBFF3C37-209B-8D33-50C6-742EB252F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5AE002F-86EE-8933-E72F-9C1BD5768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E8E35AD-240B-4FCA-144A-27CF37B0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8029D46-0284-477F-D730-4F2CC5D5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3138313-12E3-96C2-0EF9-D05E1992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6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43EC13D6-E6E7-45B7-EEE6-796496AF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747E837-86F9-4826-3A74-4A2A7FBD4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A3426BE-1822-AD46-0367-B365625D7A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E169D-FA66-4FA3-9370-AA52DCDDCFC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40BEC34-3A5E-CF7E-3FE1-E0FBF16DA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0999749-41D7-795F-D29B-35C75AF2D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3D55A-76CC-4774-8ADC-427BC4AB9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3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شعار, الرسومات, لقطة شاشة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DE1D7674-1993-AD01-BF2C-9829196A5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824" y="-2368222"/>
            <a:ext cx="63436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70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7A6E9-9A1F-20D4-CAFB-94863E87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شعار, الرسومات, لقطة شاشة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30BBC0DA-9B53-FA13-AE27-B67B066AF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175" y="1643062"/>
            <a:ext cx="6343650" cy="3571875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178BF722-2891-7FB9-8A98-80808F66A7A6}"/>
              </a:ext>
            </a:extLst>
          </p:cNvPr>
          <p:cNvSpPr txBox="1"/>
          <p:nvPr/>
        </p:nvSpPr>
        <p:spPr>
          <a:xfrm>
            <a:off x="2376890" y="6858000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SF SUPER 05 BOLD" panose="02000803000000000000" pitchFamily="2" charset="0"/>
              </a:rPr>
              <a:t>Testing</a:t>
            </a:r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F940FD97-E88C-B8A3-13A6-BB25B20CFB7B}"/>
              </a:ext>
            </a:extLst>
          </p:cNvPr>
          <p:cNvSpPr txBox="1"/>
          <p:nvPr/>
        </p:nvSpPr>
        <p:spPr>
          <a:xfrm>
            <a:off x="-1486368" y="6858000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Web </a:t>
            </a:r>
          </a:p>
        </p:txBody>
      </p:sp>
    </p:spTree>
    <p:extLst>
      <p:ext uri="{BB962C8B-B14F-4D97-AF65-F5344CB8AC3E}">
        <p14:creationId xmlns:p14="http://schemas.microsoft.com/office/powerpoint/2010/main" val="2412369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A81FE-E630-C03A-4C26-1074211E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شعار, الرسومات, لقطة شاشة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2701F82-5BEB-3FD2-9259-1C2F942F5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3720" y="-404689"/>
            <a:ext cx="3646098" cy="2052984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D9040A22-51A7-31D7-EA12-76CB41E6C553}"/>
              </a:ext>
            </a:extLst>
          </p:cNvPr>
          <p:cNvSpPr txBox="1"/>
          <p:nvPr/>
        </p:nvSpPr>
        <p:spPr>
          <a:xfrm>
            <a:off x="2398143" y="2875002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SF SUPER 05 BOLD" panose="02000803000000000000" pitchFamily="2" charset="0"/>
              </a:rPr>
              <a:t>Testing</a:t>
            </a:r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F3C75CFD-4189-32CC-328C-FBE13C8043AC}"/>
              </a:ext>
            </a:extLst>
          </p:cNvPr>
          <p:cNvSpPr txBox="1"/>
          <p:nvPr/>
        </p:nvSpPr>
        <p:spPr>
          <a:xfrm>
            <a:off x="-1495246" y="2875002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Web </a:t>
            </a:r>
          </a:p>
        </p:txBody>
      </p:sp>
    </p:spTree>
    <p:extLst>
      <p:ext uri="{BB962C8B-B14F-4D97-AF65-F5344CB8AC3E}">
        <p14:creationId xmlns:p14="http://schemas.microsoft.com/office/powerpoint/2010/main" val="537958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54F86-17EB-BDE5-5585-05C8925F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شعار, الرسومات, لقطة شاشة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B1612865-21A2-6C47-31F9-70FAE8F04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3720" y="-404689"/>
            <a:ext cx="3646098" cy="2052984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6C81C4CF-4C82-5A66-F575-F5D1636CD8E9}"/>
              </a:ext>
            </a:extLst>
          </p:cNvPr>
          <p:cNvSpPr txBox="1"/>
          <p:nvPr/>
        </p:nvSpPr>
        <p:spPr>
          <a:xfrm>
            <a:off x="2001328" y="2823244"/>
            <a:ext cx="66423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C00000"/>
                </a:solidFill>
                <a:latin typeface="SF SUPER 05 BOLD" panose="02000803000000000000" pitchFamily="2" charset="0"/>
              </a:rPr>
              <a:t>Testing</a:t>
            </a:r>
            <a:r>
              <a:rPr lang="en-US" sz="88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309DD43-C1FA-9C5D-D2B2-FE46F32DB5C7}"/>
              </a:ext>
            </a:extLst>
          </p:cNvPr>
          <p:cNvSpPr txBox="1"/>
          <p:nvPr/>
        </p:nvSpPr>
        <p:spPr>
          <a:xfrm>
            <a:off x="-1319842" y="-958687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Web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صورة الشريحة 7">
                <a:extLst>
                  <a:ext uri="{FF2B5EF4-FFF2-40B4-BE49-F238E27FC236}">
                    <a16:creationId xmlns:a16="http://schemas.microsoft.com/office/drawing/2014/main" id="{1ADEB566-EECA-3A1F-F156-E383FAC03A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69889371"/>
                  </p:ext>
                </p:extLst>
              </p:nvPr>
            </p:nvGraphicFramePr>
            <p:xfrm>
              <a:off x="852924" y="6943729"/>
              <a:ext cx="2634560" cy="1481940"/>
            </p:xfrm>
            <a:graphic>
              <a:graphicData uri="http://schemas.microsoft.com/office/powerpoint/2016/slidezoom">
                <pslz:sldZm>
                  <pslz:sldZmObj sldId="264" cId="3691707363">
                    <pslz:zmPr id="{84FC2EEE-F446-446D-892B-4050E53B16E3}" returnToParent="0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34560" cy="148194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صورة الشريحة 7">
                <a:extLst>
                  <a:ext uri="{FF2B5EF4-FFF2-40B4-BE49-F238E27FC236}">
                    <a16:creationId xmlns:a16="http://schemas.microsoft.com/office/drawing/2014/main" id="{1ADEB566-EECA-3A1F-F156-E383FAC03A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924" y="6943729"/>
                <a:ext cx="2634560" cy="148194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صورة الشريحة 8">
                <a:extLst>
                  <a:ext uri="{FF2B5EF4-FFF2-40B4-BE49-F238E27FC236}">
                    <a16:creationId xmlns:a16="http://schemas.microsoft.com/office/drawing/2014/main" id="{6A6F48D4-465B-3A37-D549-C05D8FCB23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5785511"/>
                  </p:ext>
                </p:extLst>
              </p:nvPr>
            </p:nvGraphicFramePr>
            <p:xfrm>
              <a:off x="3487484" y="-1465314"/>
              <a:ext cx="2571136" cy="1446264"/>
            </p:xfrm>
            <a:graphic>
              <a:graphicData uri="http://schemas.microsoft.com/office/powerpoint/2016/slidezoom">
                <pslz:sldZm>
                  <pslz:sldZmObj sldId="265" cId="4082539884">
                    <pslz:zmPr id="{73C158BB-30D9-4B54-A66B-AE06A1B25DC7}" returnToParent="0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71136" cy="144626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صورة الشريحة 8">
                <a:extLst>
                  <a:ext uri="{FF2B5EF4-FFF2-40B4-BE49-F238E27FC236}">
                    <a16:creationId xmlns:a16="http://schemas.microsoft.com/office/drawing/2014/main" id="{6A6F48D4-465B-3A37-D549-C05D8FCB23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7484" y="-1465314"/>
                <a:ext cx="2571136" cy="144626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صورة الشريحة 9">
                <a:extLst>
                  <a:ext uri="{FF2B5EF4-FFF2-40B4-BE49-F238E27FC236}">
                    <a16:creationId xmlns:a16="http://schemas.microsoft.com/office/drawing/2014/main" id="{CC0425EA-5B6D-7973-0D6D-56E5D8B8FC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06203019"/>
                  </p:ext>
                </p:extLst>
              </p:nvPr>
            </p:nvGraphicFramePr>
            <p:xfrm>
              <a:off x="5481698" y="6858000"/>
              <a:ext cx="2548208" cy="1433368"/>
            </p:xfrm>
            <a:graphic>
              <a:graphicData uri="http://schemas.microsoft.com/office/powerpoint/2016/slidezoom">
                <pslz:sldZm>
                  <pslz:sldZmObj sldId="267" cId="1405046082">
                    <pslz:zmPr id="{75B54EC3-7192-49FD-ADAB-89F7FEBF25AF}" returnToParent="0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48208" cy="143336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صورة الشريحة 9">
                <a:extLst>
                  <a:ext uri="{FF2B5EF4-FFF2-40B4-BE49-F238E27FC236}">
                    <a16:creationId xmlns:a16="http://schemas.microsoft.com/office/drawing/2014/main" id="{CC0425EA-5B6D-7973-0D6D-56E5D8B8FC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81698" y="6858000"/>
                <a:ext cx="2548208" cy="1433368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صورة الشريحة 10">
                <a:extLst>
                  <a:ext uri="{FF2B5EF4-FFF2-40B4-BE49-F238E27FC236}">
                    <a16:creationId xmlns:a16="http://schemas.microsoft.com/office/drawing/2014/main" id="{FE42E4BE-AC0D-07D7-0D4F-887262E80B3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01601180"/>
                  </p:ext>
                </p:extLst>
              </p:nvPr>
            </p:nvGraphicFramePr>
            <p:xfrm>
              <a:off x="7743496" y="-1406302"/>
              <a:ext cx="2466226" cy="1387252"/>
            </p:xfrm>
            <a:graphic>
              <a:graphicData uri="http://schemas.microsoft.com/office/powerpoint/2016/slidezoom">
                <pslz:sldZm>
                  <pslz:sldZmObj sldId="266" cId="2657896211">
                    <pslz:zmPr id="{0D55D685-B68C-484A-AD55-DB6CA914A5AE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66226" cy="1387252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صورة الشريحة 10">
                <a:extLst>
                  <a:ext uri="{FF2B5EF4-FFF2-40B4-BE49-F238E27FC236}">
                    <a16:creationId xmlns:a16="http://schemas.microsoft.com/office/drawing/2014/main" id="{FE42E4BE-AC0D-07D7-0D4F-887262E80B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43496" y="-1406302"/>
                <a:ext cx="2466226" cy="1387252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صورة الشريحة 11">
                <a:extLst>
                  <a:ext uri="{FF2B5EF4-FFF2-40B4-BE49-F238E27FC236}">
                    <a16:creationId xmlns:a16="http://schemas.microsoft.com/office/drawing/2014/main" id="{C449B528-1983-7503-7E36-DF7C276233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59089420"/>
                  </p:ext>
                </p:extLst>
              </p:nvPr>
            </p:nvGraphicFramePr>
            <p:xfrm>
              <a:off x="9646280" y="6941249"/>
              <a:ext cx="2252212" cy="1266870"/>
            </p:xfrm>
            <a:graphic>
              <a:graphicData uri="http://schemas.microsoft.com/office/powerpoint/2016/slidezoom">
                <pslz:sldZm>
                  <pslz:sldZmObj sldId="268" cId="2975884859">
                    <pslz:zmPr id="{5538330E-5E13-4DBD-B1CC-C53806ABF536}" returnToParent="0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2212" cy="126687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صورة الشريحة 11">
                <a:extLst>
                  <a:ext uri="{FF2B5EF4-FFF2-40B4-BE49-F238E27FC236}">
                    <a16:creationId xmlns:a16="http://schemas.microsoft.com/office/drawing/2014/main" id="{C449B528-1983-7503-7E36-DF7C276233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46280" y="6941249"/>
                <a:ext cx="2252212" cy="126687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cxnSp>
        <p:nvCxnSpPr>
          <p:cNvPr id="13" name="Straight Connector 3">
            <a:extLst>
              <a:ext uri="{FF2B5EF4-FFF2-40B4-BE49-F238E27FC236}">
                <a16:creationId xmlns:a16="http://schemas.microsoft.com/office/drawing/2014/main" id="{2EC799CA-7243-6152-918B-395C654A4F89}"/>
              </a:ext>
            </a:extLst>
          </p:cNvPr>
          <p:cNvCxnSpPr/>
          <p:nvPr/>
        </p:nvCxnSpPr>
        <p:spPr>
          <a:xfrm>
            <a:off x="-10753336" y="4481803"/>
            <a:ext cx="105342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80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FA9F0-9F21-680B-95AC-461AF4E4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شعار, الرسومات, لقطة شاشة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7F0C1FFF-262F-9E29-3E10-C0EFCA11E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3720" y="-404689"/>
            <a:ext cx="3646098" cy="2052984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5F1ACABD-3F02-A06B-A078-E34E569BE91C}"/>
              </a:ext>
            </a:extLst>
          </p:cNvPr>
          <p:cNvSpPr txBox="1"/>
          <p:nvPr/>
        </p:nvSpPr>
        <p:spPr>
          <a:xfrm>
            <a:off x="2001328" y="1184944"/>
            <a:ext cx="66423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C00000"/>
                </a:solidFill>
                <a:latin typeface="SF SUPER 05 BOLD" panose="02000803000000000000" pitchFamily="2" charset="0"/>
              </a:rPr>
              <a:t>Testing</a:t>
            </a:r>
            <a:r>
              <a:rPr lang="en-US" sz="88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cxnSp>
        <p:nvCxnSpPr>
          <p:cNvPr id="3" name="Straight Connector 3">
            <a:extLst>
              <a:ext uri="{FF2B5EF4-FFF2-40B4-BE49-F238E27FC236}">
                <a16:creationId xmlns:a16="http://schemas.microsoft.com/office/drawing/2014/main" id="{6F35459F-9D75-141F-F13B-C630F1863530}"/>
              </a:ext>
            </a:extLst>
          </p:cNvPr>
          <p:cNvCxnSpPr/>
          <p:nvPr/>
        </p:nvCxnSpPr>
        <p:spPr>
          <a:xfrm>
            <a:off x="1657739" y="4786603"/>
            <a:ext cx="105342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صورة الشريحة 5">
                <a:extLst>
                  <a:ext uri="{FF2B5EF4-FFF2-40B4-BE49-F238E27FC236}">
                    <a16:creationId xmlns:a16="http://schemas.microsoft.com/office/drawing/2014/main" id="{782C6B9E-54D6-12B4-90E3-BA21C5DFD5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3364739"/>
                  </p:ext>
                </p:extLst>
              </p:nvPr>
            </p:nvGraphicFramePr>
            <p:xfrm>
              <a:off x="920243" y="4642224"/>
              <a:ext cx="2634560" cy="1481940"/>
            </p:xfrm>
            <a:graphic>
              <a:graphicData uri="http://schemas.microsoft.com/office/powerpoint/2016/slidezoom">
                <pslz:sldZm>
                  <pslz:sldZmObj sldId="264" cId="3691707363">
                    <pslz:zmPr id="{84FC2EEE-F446-446D-892B-4050E53B16E3}" returnToParent="0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34560" cy="148194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صورة الشريحة 5">
                <a:extLst>
                  <a:ext uri="{FF2B5EF4-FFF2-40B4-BE49-F238E27FC236}">
                    <a16:creationId xmlns:a16="http://schemas.microsoft.com/office/drawing/2014/main" id="{782C6B9E-54D6-12B4-90E3-BA21C5DFD5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0243" y="4642224"/>
                <a:ext cx="2634560" cy="148194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صورة الشريحة 7">
                <a:extLst>
                  <a:ext uri="{FF2B5EF4-FFF2-40B4-BE49-F238E27FC236}">
                    <a16:creationId xmlns:a16="http://schemas.microsoft.com/office/drawing/2014/main" id="{A27E357C-4234-7781-CDE7-C97F28120A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4090738"/>
                  </p:ext>
                </p:extLst>
              </p:nvPr>
            </p:nvGraphicFramePr>
            <p:xfrm>
              <a:off x="3268881" y="3527501"/>
              <a:ext cx="2571136" cy="1446264"/>
            </p:xfrm>
            <a:graphic>
              <a:graphicData uri="http://schemas.microsoft.com/office/powerpoint/2016/slidezoom">
                <pslz:sldZm>
                  <pslz:sldZmObj sldId="265" cId="4082539884">
                    <pslz:zmPr id="{73C158BB-30D9-4B54-A66B-AE06A1B25DC7}" returnToParent="0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71136" cy="144626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صورة الشريحة 7">
                <a:extLst>
                  <a:ext uri="{FF2B5EF4-FFF2-40B4-BE49-F238E27FC236}">
                    <a16:creationId xmlns:a16="http://schemas.microsoft.com/office/drawing/2014/main" id="{A27E357C-4234-7781-CDE7-C97F28120A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8881" y="3527501"/>
                <a:ext cx="2571136" cy="144626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صورة الشريحة 9">
                <a:extLst>
                  <a:ext uri="{FF2B5EF4-FFF2-40B4-BE49-F238E27FC236}">
                    <a16:creationId xmlns:a16="http://schemas.microsoft.com/office/drawing/2014/main" id="{9522A2F6-E7A2-5FFD-B756-A73900EF72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9769333"/>
                  </p:ext>
                </p:extLst>
              </p:nvPr>
            </p:nvGraphicFramePr>
            <p:xfrm>
              <a:off x="7572046" y="3527501"/>
              <a:ext cx="2466226" cy="1387252"/>
            </p:xfrm>
            <a:graphic>
              <a:graphicData uri="http://schemas.microsoft.com/office/powerpoint/2016/slidezoom">
                <pslz:sldZm>
                  <pslz:sldZmObj sldId="266" cId="2657896211">
                    <pslz:zmPr id="{0D55D685-B68C-484A-AD55-DB6CA914A5AE}" returnToParent="0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66226" cy="1387252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صورة الشريحة 9">
                <a:extLst>
                  <a:ext uri="{FF2B5EF4-FFF2-40B4-BE49-F238E27FC236}">
                    <a16:creationId xmlns:a16="http://schemas.microsoft.com/office/drawing/2014/main" id="{9522A2F6-E7A2-5FFD-B756-A73900EF72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72046" y="3527501"/>
                <a:ext cx="2466226" cy="1387252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صورة الشريحة 11">
                <a:extLst>
                  <a:ext uri="{FF2B5EF4-FFF2-40B4-BE49-F238E27FC236}">
                    <a16:creationId xmlns:a16="http://schemas.microsoft.com/office/drawing/2014/main" id="{A8FA6142-7E9F-0CFC-4671-7E5D2E41ED7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1126883"/>
                  </p:ext>
                </p:extLst>
              </p:nvPr>
            </p:nvGraphicFramePr>
            <p:xfrm>
              <a:off x="5395973" y="4666510"/>
              <a:ext cx="2548208" cy="1433368"/>
            </p:xfrm>
            <a:graphic>
              <a:graphicData uri="http://schemas.microsoft.com/office/powerpoint/2016/slidezoom">
                <pslz:sldZm>
                  <pslz:sldZmObj sldId="267" cId="1405046082">
                    <pslz:zmPr id="{75B54EC3-7192-49FD-ADAB-89F7FEBF25AF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548208" cy="143336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صورة الشريحة 11">
                <a:extLst>
                  <a:ext uri="{FF2B5EF4-FFF2-40B4-BE49-F238E27FC236}">
                    <a16:creationId xmlns:a16="http://schemas.microsoft.com/office/drawing/2014/main" id="{A8FA6142-7E9F-0CFC-4671-7E5D2E41ED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95973" y="4666510"/>
                <a:ext cx="2548208" cy="1433368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صورة الشريحة 13">
                <a:extLst>
                  <a:ext uri="{FF2B5EF4-FFF2-40B4-BE49-F238E27FC236}">
                    <a16:creationId xmlns:a16="http://schemas.microsoft.com/office/drawing/2014/main" id="{14CB7324-B73D-5EB2-6AEE-DA0ACB2A9FC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4775094"/>
                  </p:ext>
                </p:extLst>
              </p:nvPr>
            </p:nvGraphicFramePr>
            <p:xfrm>
              <a:off x="9627230" y="4666510"/>
              <a:ext cx="2252212" cy="1266870"/>
            </p:xfrm>
            <a:graphic>
              <a:graphicData uri="http://schemas.microsoft.com/office/powerpoint/2016/slidezoom">
                <pslz:sldZm>
                  <pslz:sldZmObj sldId="268" cId="2975884859">
                    <pslz:zmPr id="{5538330E-5E13-4DBD-B1CC-C53806ABF536}" returnToParent="0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2212" cy="126687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صورة الشريحة 13">
                <a:extLst>
                  <a:ext uri="{FF2B5EF4-FFF2-40B4-BE49-F238E27FC236}">
                    <a16:creationId xmlns:a16="http://schemas.microsoft.com/office/drawing/2014/main" id="{14CB7324-B73D-5EB2-6AEE-DA0ACB2A9F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27230" y="4666510"/>
                <a:ext cx="2252212" cy="126687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95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C6AC6-25FE-11AA-02BD-55B02427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3E2BD5A-1F14-E052-3B7C-A5228A51B739}"/>
              </a:ext>
            </a:extLst>
          </p:cNvPr>
          <p:cNvSpPr/>
          <p:nvPr/>
        </p:nvSpPr>
        <p:spPr>
          <a:xfrm>
            <a:off x="5084064" y="201168"/>
            <a:ext cx="1158240" cy="111556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907A06C2-CEBC-039F-8E9E-72B69BF97739}"/>
              </a:ext>
            </a:extLst>
          </p:cNvPr>
          <p:cNvSpPr txBox="1"/>
          <p:nvPr/>
        </p:nvSpPr>
        <p:spPr>
          <a:xfrm>
            <a:off x="1762894" y="1316736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SF SUPER 05 BOLD" panose="02000803000000000000" pitchFamily="2" charset="0"/>
              </a:rPr>
              <a:t>MOHAMED</a:t>
            </a:r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CFB9FA80-82F8-F692-2ABB-17293D722BB6}"/>
              </a:ext>
            </a:extLst>
          </p:cNvPr>
          <p:cNvSpPr txBox="1"/>
          <p:nvPr/>
        </p:nvSpPr>
        <p:spPr>
          <a:xfrm>
            <a:off x="867853" y="2127919"/>
            <a:ext cx="6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F SUPER 05 BOLD" panose="02000803000000000000" pitchFamily="2" charset="0"/>
              </a:rPr>
              <a:t>YASSER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6466AD6-5808-B156-0CC2-3A560906C14C}"/>
              </a:ext>
            </a:extLst>
          </p:cNvPr>
          <p:cNvSpPr txBox="1"/>
          <p:nvPr/>
        </p:nvSpPr>
        <p:spPr>
          <a:xfrm>
            <a:off x="2865882" y="3540300"/>
            <a:ext cx="5289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F SUPER 05 BOLD" panose="02000803000000000000" pitchFamily="2" charset="0"/>
              </a:rPr>
              <a:t>Home </a:t>
            </a:r>
            <a:r>
              <a:rPr lang="en-US" sz="2400" dirty="0" err="1">
                <a:solidFill>
                  <a:schemeClr val="bg1"/>
                </a:solidFill>
                <a:latin typeface="SF SUPER 05 BOLD" panose="02000803000000000000" pitchFamily="2" charset="0"/>
              </a:rPr>
              <a:t>PagE</a:t>
            </a:r>
            <a:r>
              <a:rPr lang="en-US" sz="24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SF SUPER 05 BOLD" panose="02000803000000000000" pitchFamily="2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SF SUPER 05 BOLD" panose="02000803000000000000" pitchFamily="2" charset="0"/>
              </a:rPr>
              <a:t> Navigation</a:t>
            </a:r>
          </a:p>
        </p:txBody>
      </p:sp>
      <p:sp>
        <p:nvSpPr>
          <p:cNvPr id="8" name="Rectangle: Rounded Corners 13">
            <a:extLst>
              <a:ext uri="{FF2B5EF4-FFF2-40B4-BE49-F238E27FC236}">
                <a16:creationId xmlns:a16="http://schemas.microsoft.com/office/drawing/2014/main" id="{AB417D9C-C747-238A-C072-10A2AB90694A}"/>
              </a:ext>
            </a:extLst>
          </p:cNvPr>
          <p:cNvSpPr/>
          <p:nvPr/>
        </p:nvSpPr>
        <p:spPr>
          <a:xfrm>
            <a:off x="666750" y="4067175"/>
            <a:ext cx="4996434" cy="215265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1D62DE4E-85B6-C965-E04B-99F5EA2840AF}"/>
              </a:ext>
            </a:extLst>
          </p:cNvPr>
          <p:cNvSpPr/>
          <p:nvPr/>
        </p:nvSpPr>
        <p:spPr>
          <a:xfrm>
            <a:off x="6207017" y="4067174"/>
            <a:ext cx="4996434" cy="215264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رسم 10" descr="خنفساء مع تعبئة خالصة">
            <a:extLst>
              <a:ext uri="{FF2B5EF4-FFF2-40B4-BE49-F238E27FC236}">
                <a16:creationId xmlns:a16="http://schemas.microsoft.com/office/drawing/2014/main" id="{2B8A0776-3C13-3DF2-6DF2-AC3594A14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900" y="4067175"/>
            <a:ext cx="571298" cy="571298"/>
          </a:xfrm>
          <a:prstGeom prst="rect">
            <a:avLst/>
          </a:prstGeom>
        </p:spPr>
      </p:pic>
      <p:pic>
        <p:nvPicPr>
          <p:cNvPr id="17" name="رسم 16" descr="محطة أمر طرفية مع تعبئة خالصة">
            <a:extLst>
              <a:ext uri="{FF2B5EF4-FFF2-40B4-BE49-F238E27FC236}">
                <a16:creationId xmlns:a16="http://schemas.microsoft.com/office/drawing/2014/main" id="{14A3C1C8-0DAB-5E6C-0F07-BED18C4B4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2427" y="4128857"/>
            <a:ext cx="509616" cy="509616"/>
          </a:xfrm>
          <a:prstGeom prst="rect">
            <a:avLst/>
          </a:prstGeom>
        </p:spPr>
      </p:pic>
      <p:sp>
        <p:nvSpPr>
          <p:cNvPr id="18" name="مربع نص 17">
            <a:extLst>
              <a:ext uri="{FF2B5EF4-FFF2-40B4-BE49-F238E27FC236}">
                <a16:creationId xmlns:a16="http://schemas.microsoft.com/office/drawing/2014/main" id="{908CD322-7359-6B4E-3D3F-9B5B4CB4C599}"/>
              </a:ext>
            </a:extLst>
          </p:cNvPr>
          <p:cNvSpPr txBox="1"/>
          <p:nvPr/>
        </p:nvSpPr>
        <p:spPr>
          <a:xfrm>
            <a:off x="-374808" y="4124576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F SUPER 05 BOLD" panose="02000803000000000000" pitchFamily="2" charset="0"/>
              </a:rPr>
              <a:t>Manual Testing</a:t>
            </a:r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30E3FC19-1C69-E3CD-E76E-7CAED02075EB}"/>
              </a:ext>
            </a:extLst>
          </p:cNvPr>
          <p:cNvSpPr txBox="1"/>
          <p:nvPr/>
        </p:nvSpPr>
        <p:spPr>
          <a:xfrm>
            <a:off x="4632104" y="4122055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SF SUPER 05 BOLD" panose="02000803000000000000" pitchFamily="2" charset="0"/>
              </a:rPr>
              <a:t>Api testing</a:t>
            </a:r>
          </a:p>
        </p:txBody>
      </p:sp>
      <p:sp>
        <p:nvSpPr>
          <p:cNvPr id="20" name="مربع نص 19">
            <a:extLst>
              <a:ext uri="{FF2B5EF4-FFF2-40B4-BE49-F238E27FC236}">
                <a16:creationId xmlns:a16="http://schemas.microsoft.com/office/drawing/2014/main" id="{3AD250B2-D2CF-CBAD-6B52-FEB0EEB860D7}"/>
              </a:ext>
            </a:extLst>
          </p:cNvPr>
          <p:cNvSpPr txBox="1"/>
          <p:nvPr/>
        </p:nvSpPr>
        <p:spPr>
          <a:xfrm>
            <a:off x="721923" y="4645275"/>
            <a:ext cx="49076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Verify navigation bar link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(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Home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 News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 Drivers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 Teams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).</a:t>
            </a:r>
          </a:p>
          <a:p>
            <a:pPr algn="l"/>
            <a:endParaRPr lang="en-US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Confirm images and banners load properly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.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21" name="مربع نص 20">
            <a:extLst>
              <a:ext uri="{FF2B5EF4-FFF2-40B4-BE49-F238E27FC236}">
                <a16:creationId xmlns:a16="http://schemas.microsoft.com/office/drawing/2014/main" id="{92EB4EEB-B9B8-26F1-3329-729D969CE21F}"/>
              </a:ext>
            </a:extLst>
          </p:cNvPr>
          <p:cNvSpPr txBox="1"/>
          <p:nvPr/>
        </p:nvSpPr>
        <p:spPr>
          <a:xfrm>
            <a:off x="6242304" y="4765365"/>
            <a:ext cx="5152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dirty="0">
                <a:solidFill>
                  <a:srgbClr val="C00000"/>
                </a:solidFill>
                <a:latin typeface="SF SUPER 05 BOLD" panose="02000803000000000000" pitchFamily="2" charset="0"/>
              </a:rPr>
              <a:t>status → verify server health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.</a:t>
            </a:r>
          </a:p>
          <a:p>
            <a:pPr algn="l"/>
            <a:endParaRPr lang="en-US" dirty="0">
              <a:solidFill>
                <a:srgbClr val="C00000"/>
              </a:solidFill>
              <a:latin typeface="+mj-lt"/>
            </a:endParaRPr>
          </a:p>
          <a:p>
            <a:pPr algn="l"/>
            <a:r>
              <a:rPr lang="en-US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dirty="0">
                <a:solidFill>
                  <a:srgbClr val="C00000"/>
                </a:solidFill>
                <a:latin typeface="SF SUPER 05 BOLD" panose="02000803000000000000" pitchFamily="2" charset="0"/>
              </a:rPr>
              <a:t>seasons → check 200 response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&amp;</a:t>
            </a:r>
            <a:r>
              <a:rPr lang="en-US" dirty="0">
                <a:solidFill>
                  <a:srgbClr val="C00000"/>
                </a:solidFill>
                <a:latin typeface="SF SUPER 05 BOLD" panose="02000803000000000000" pitchFamily="2" charset="0"/>
              </a:rPr>
              <a:t> JSON format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170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75C7B-1E83-019F-F924-9E2A6BC4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B24A3BB-5515-FA43-B5FA-3B9A29E9B1B7}"/>
              </a:ext>
            </a:extLst>
          </p:cNvPr>
          <p:cNvSpPr/>
          <p:nvPr/>
        </p:nvSpPr>
        <p:spPr>
          <a:xfrm>
            <a:off x="5407914" y="5468493"/>
            <a:ext cx="1158240" cy="111556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DD544DEE-E109-99A3-F057-ED31018E1CBC}"/>
              </a:ext>
            </a:extLst>
          </p:cNvPr>
          <p:cNvSpPr txBox="1"/>
          <p:nvPr/>
        </p:nvSpPr>
        <p:spPr>
          <a:xfrm>
            <a:off x="1086619" y="914196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SF SUPER 05 BOLD" panose="02000803000000000000" pitchFamily="2" charset="0"/>
              </a:rPr>
              <a:t>HAZEM </a:t>
            </a:r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52394144-F7F6-F5E0-1312-E3F93343F0CD}"/>
              </a:ext>
            </a:extLst>
          </p:cNvPr>
          <p:cNvSpPr txBox="1"/>
          <p:nvPr/>
        </p:nvSpPr>
        <p:spPr>
          <a:xfrm>
            <a:off x="582103" y="1714832"/>
            <a:ext cx="6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F SUPER 05 BOLD" panose="02000803000000000000" pitchFamily="2" charset="0"/>
              </a:rPr>
              <a:t>SHERIF </a:t>
            </a:r>
          </a:p>
        </p:txBody>
      </p:sp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CFBB3CC6-34EA-2D27-1AC1-8B4CAC448A06}"/>
              </a:ext>
            </a:extLst>
          </p:cNvPr>
          <p:cNvSpPr/>
          <p:nvPr/>
        </p:nvSpPr>
        <p:spPr>
          <a:xfrm>
            <a:off x="582103" y="3429000"/>
            <a:ext cx="4996434" cy="211763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13">
            <a:extLst>
              <a:ext uri="{FF2B5EF4-FFF2-40B4-BE49-F238E27FC236}">
                <a16:creationId xmlns:a16="http://schemas.microsoft.com/office/drawing/2014/main" id="{E2A59918-FFB5-82F4-9C61-08EB2B79DF08}"/>
              </a:ext>
            </a:extLst>
          </p:cNvPr>
          <p:cNvSpPr/>
          <p:nvPr/>
        </p:nvSpPr>
        <p:spPr>
          <a:xfrm>
            <a:off x="6400800" y="3428999"/>
            <a:ext cx="4996434" cy="203949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485E57B-94C2-29DA-0B55-A835E65FAF04}"/>
              </a:ext>
            </a:extLst>
          </p:cNvPr>
          <p:cNvSpPr txBox="1"/>
          <p:nvPr/>
        </p:nvSpPr>
        <p:spPr>
          <a:xfrm>
            <a:off x="2933635" y="2890182"/>
            <a:ext cx="5289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F SUPER 05 BOLD" panose="02000803000000000000" pitchFamily="2" charset="0"/>
              </a:rPr>
              <a:t>Race Schedule </a:t>
            </a:r>
            <a:r>
              <a:rPr lang="en-US" sz="2400" dirty="0">
                <a:solidFill>
                  <a:srgbClr val="C00000"/>
                </a:solidFill>
                <a:latin typeface="SF SUPER 05 BOLD" panose="02000803000000000000" pitchFamily="2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SF SUPER 05 BOLD" panose="02000803000000000000" pitchFamily="2" charset="0"/>
              </a:rPr>
              <a:t> Results</a:t>
            </a:r>
          </a:p>
        </p:txBody>
      </p:sp>
      <p:pic>
        <p:nvPicPr>
          <p:cNvPr id="8" name="رسم 7" descr="خنفساء مع تعبئة خالصة">
            <a:extLst>
              <a:ext uri="{FF2B5EF4-FFF2-40B4-BE49-F238E27FC236}">
                <a16:creationId xmlns:a16="http://schemas.microsoft.com/office/drawing/2014/main" id="{8ABE0A0A-CB53-BE02-BBBE-8D9354AB5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103" y="3514725"/>
            <a:ext cx="571298" cy="571298"/>
          </a:xfrm>
          <a:prstGeom prst="rect">
            <a:avLst/>
          </a:prstGeom>
        </p:spPr>
      </p:pic>
      <p:pic>
        <p:nvPicPr>
          <p:cNvPr id="9" name="رسم 8" descr="محطة أمر طرفية مع تعبئة خالصة">
            <a:extLst>
              <a:ext uri="{FF2B5EF4-FFF2-40B4-BE49-F238E27FC236}">
                <a16:creationId xmlns:a16="http://schemas.microsoft.com/office/drawing/2014/main" id="{32672B56-DE27-26C9-095F-744F5A7AA3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2433" y="3514725"/>
            <a:ext cx="509616" cy="509616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58E31465-4828-5C64-B98E-FF1FC103307E}"/>
              </a:ext>
            </a:extLst>
          </p:cNvPr>
          <p:cNvSpPr txBox="1"/>
          <p:nvPr/>
        </p:nvSpPr>
        <p:spPr>
          <a:xfrm>
            <a:off x="-405514" y="3450028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F SUPER 05 BOLD" panose="02000803000000000000" pitchFamily="2" charset="0"/>
              </a:rPr>
              <a:t>Manual Testing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604E5735-0ED1-FA2A-F891-3493A3004BA0}"/>
              </a:ext>
            </a:extLst>
          </p:cNvPr>
          <p:cNvSpPr txBox="1"/>
          <p:nvPr/>
        </p:nvSpPr>
        <p:spPr>
          <a:xfrm>
            <a:off x="4814433" y="3501121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SF SUPER 05 BOLD" panose="02000803000000000000" pitchFamily="2" charset="0"/>
              </a:rPr>
              <a:t>Api testing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4DE07967-DB73-3EB6-838D-D51292B4BFE0}"/>
              </a:ext>
            </a:extLst>
          </p:cNvPr>
          <p:cNvSpPr txBox="1"/>
          <p:nvPr/>
        </p:nvSpPr>
        <p:spPr>
          <a:xfrm>
            <a:off x="1034047" y="3994276"/>
            <a:ext cx="43516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latin typeface="SF SUPER 05 BOLD" panose="02000803000000000000" pitchFamily="2" charset="0"/>
              </a:rPr>
              <a:t>Verify the 2025 season schedule appears correctly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algn="l"/>
            <a:endParaRPr lang="en-US" sz="1400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1400" dirty="0">
                <a:solidFill>
                  <a:schemeClr val="bg1"/>
                </a:solidFill>
                <a:latin typeface="SF SUPER 05 BOLD" panose="02000803000000000000" pitchFamily="2" charset="0"/>
              </a:rPr>
              <a:t>Check race names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400" dirty="0">
                <a:solidFill>
                  <a:schemeClr val="bg1"/>
                </a:solidFill>
                <a:latin typeface="SF SUPER 05 BOLD" panose="02000803000000000000" pitchFamily="2" charset="0"/>
              </a:rPr>
              <a:t> flags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400" dirty="0">
                <a:solidFill>
                  <a:schemeClr val="bg1"/>
                </a:solidFill>
                <a:latin typeface="SF SUPER 05 BOLD" panose="02000803000000000000" pitchFamily="2" charset="0"/>
              </a:rPr>
              <a:t> and dates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algn="l"/>
            <a:endParaRPr lang="en-US" sz="1400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1400" dirty="0">
                <a:solidFill>
                  <a:schemeClr val="bg1"/>
                </a:solidFill>
                <a:latin typeface="SF SUPER 05 BOLD" panose="02000803000000000000" pitchFamily="2" charset="0"/>
              </a:rPr>
              <a:t>Click each race → validate results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400" dirty="0">
                <a:solidFill>
                  <a:schemeClr val="bg1"/>
                </a:solidFill>
                <a:latin typeface="SF SUPER 05 BOLD" panose="02000803000000000000" pitchFamily="2" charset="0"/>
              </a:rPr>
              <a:t> laps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400" dirty="0">
                <a:solidFill>
                  <a:schemeClr val="bg1"/>
                </a:solidFill>
                <a:latin typeface="SF SUPER 05 BOLD" panose="02000803000000000000" pitchFamily="2" charset="0"/>
              </a:rPr>
              <a:t> positions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9C12AB7C-77B9-AA30-014E-EA0339602F14}"/>
              </a:ext>
            </a:extLst>
          </p:cNvPr>
          <p:cNvSpPr txBox="1"/>
          <p:nvPr/>
        </p:nvSpPr>
        <p:spPr>
          <a:xfrm>
            <a:off x="6747878" y="3919147"/>
            <a:ext cx="44100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schedule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2024 → validate 24 races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.</a:t>
            </a:r>
          </a:p>
          <a:p>
            <a:pPr algn="l"/>
            <a:endParaRPr lang="en-US" sz="1400" dirty="0">
              <a:solidFill>
                <a:srgbClr val="C00000"/>
              </a:solidFill>
              <a:latin typeface="+mj-lt"/>
            </a:endParaRPr>
          </a:p>
          <a:p>
            <a:pPr algn="l"/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results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2024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1 → validate race name 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=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 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“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Bahrain Grand Prix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”.</a:t>
            </a:r>
          </a:p>
          <a:p>
            <a:pPr algn="l"/>
            <a:endParaRPr lang="en-US" sz="1400" dirty="0">
              <a:solidFill>
                <a:srgbClr val="C00000"/>
              </a:solidFill>
              <a:latin typeface="+mj-lt"/>
            </a:endParaRPr>
          </a:p>
          <a:p>
            <a:pPr algn="l"/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Negative test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: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 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results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2050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400" dirty="0">
                <a:solidFill>
                  <a:srgbClr val="C00000"/>
                </a:solidFill>
                <a:latin typeface="SF SUPER 05 BOLD" panose="02000803000000000000" pitchFamily="2" charset="0"/>
              </a:rPr>
              <a:t>1 → expect error or 404</a:t>
            </a:r>
            <a:r>
              <a:rPr lang="en-US" sz="1400" dirty="0">
                <a:solidFill>
                  <a:srgbClr val="C00000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53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1122E-248D-F009-A16C-2A313329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9A63AFA7-4C2C-7C93-5026-1DA67334D062}"/>
              </a:ext>
            </a:extLst>
          </p:cNvPr>
          <p:cNvSpPr/>
          <p:nvPr/>
        </p:nvSpPr>
        <p:spPr>
          <a:xfrm>
            <a:off x="5084064" y="201168"/>
            <a:ext cx="1158240" cy="111556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4EB23069-8A54-6904-BC03-47154BF01FF3}"/>
              </a:ext>
            </a:extLst>
          </p:cNvPr>
          <p:cNvSpPr txBox="1"/>
          <p:nvPr/>
        </p:nvSpPr>
        <p:spPr>
          <a:xfrm>
            <a:off x="686569" y="1316736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SF SUPER 05 BOLD" panose="02000803000000000000" pitchFamily="2" charset="0"/>
              </a:rPr>
              <a:t>OMAR</a:t>
            </a:r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6CDFEE54-0336-4BD7-3492-69401F420ED9}"/>
              </a:ext>
            </a:extLst>
          </p:cNvPr>
          <p:cNvSpPr txBox="1"/>
          <p:nvPr/>
        </p:nvSpPr>
        <p:spPr>
          <a:xfrm>
            <a:off x="782128" y="2118394"/>
            <a:ext cx="6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F SUPER 05 BOLD" panose="02000803000000000000" pitchFamily="2" charset="0"/>
              </a:rPr>
              <a:t>RAMDAN</a:t>
            </a:r>
          </a:p>
        </p:txBody>
      </p:sp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4355844A-A1BD-F5CF-FCA8-1291151C409C}"/>
              </a:ext>
            </a:extLst>
          </p:cNvPr>
          <p:cNvSpPr/>
          <p:nvPr/>
        </p:nvSpPr>
        <p:spPr>
          <a:xfrm>
            <a:off x="666750" y="4067175"/>
            <a:ext cx="4996434" cy="25146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13">
            <a:extLst>
              <a:ext uri="{FF2B5EF4-FFF2-40B4-BE49-F238E27FC236}">
                <a16:creationId xmlns:a16="http://schemas.microsoft.com/office/drawing/2014/main" id="{C4FF8A97-9286-5439-8C94-00EC34363A93}"/>
              </a:ext>
            </a:extLst>
          </p:cNvPr>
          <p:cNvSpPr/>
          <p:nvPr/>
        </p:nvSpPr>
        <p:spPr>
          <a:xfrm>
            <a:off x="6242304" y="4067174"/>
            <a:ext cx="4996434" cy="25145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45CFBE2F-F63B-38E2-687E-0391E391AB2D}"/>
              </a:ext>
            </a:extLst>
          </p:cNvPr>
          <p:cNvSpPr txBox="1"/>
          <p:nvPr/>
        </p:nvSpPr>
        <p:spPr>
          <a:xfrm>
            <a:off x="1466850" y="353077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F SUPER 05 BOLD" panose="02000803000000000000" pitchFamily="2" charset="0"/>
              </a:rPr>
              <a:t>Drivers </a:t>
            </a:r>
            <a:r>
              <a:rPr lang="en-US" sz="2000" dirty="0">
                <a:solidFill>
                  <a:srgbClr val="C00000"/>
                </a:solidFill>
                <a:latin typeface="SF SUPER 05 BOLD" panose="02000803000000000000" pitchFamily="2" charset="0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SF SUPER 05 BOLD" panose="02000803000000000000" pitchFamily="2" charset="0"/>
              </a:rPr>
              <a:t> Standings</a:t>
            </a:r>
          </a:p>
        </p:txBody>
      </p:sp>
      <p:pic>
        <p:nvPicPr>
          <p:cNvPr id="9" name="رسم 8" descr="خنفساء مع تعبئة خالصة">
            <a:extLst>
              <a:ext uri="{FF2B5EF4-FFF2-40B4-BE49-F238E27FC236}">
                <a16:creationId xmlns:a16="http://schemas.microsoft.com/office/drawing/2014/main" id="{D297D359-0A9F-4AB4-D153-FB6E7211B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900" y="4067175"/>
            <a:ext cx="571298" cy="571298"/>
          </a:xfrm>
          <a:prstGeom prst="rect">
            <a:avLst/>
          </a:prstGeom>
        </p:spPr>
      </p:pic>
      <p:pic>
        <p:nvPicPr>
          <p:cNvPr id="10" name="رسم 9" descr="محطة أمر طرفية مع تعبئة خالصة">
            <a:extLst>
              <a:ext uri="{FF2B5EF4-FFF2-40B4-BE49-F238E27FC236}">
                <a16:creationId xmlns:a16="http://schemas.microsoft.com/office/drawing/2014/main" id="{95C40A46-61D6-64E1-EFFE-0FA8C9596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2427" y="4128857"/>
            <a:ext cx="509616" cy="509616"/>
          </a:xfrm>
          <a:prstGeom prst="rect">
            <a:avLst/>
          </a:prstGeom>
        </p:spPr>
      </p:pic>
      <p:sp>
        <p:nvSpPr>
          <p:cNvPr id="11" name="مربع نص 10">
            <a:extLst>
              <a:ext uri="{FF2B5EF4-FFF2-40B4-BE49-F238E27FC236}">
                <a16:creationId xmlns:a16="http://schemas.microsoft.com/office/drawing/2014/main" id="{7A10FBCB-6310-A0D4-4D38-E957CE67369B}"/>
              </a:ext>
            </a:extLst>
          </p:cNvPr>
          <p:cNvSpPr txBox="1"/>
          <p:nvPr/>
        </p:nvSpPr>
        <p:spPr>
          <a:xfrm>
            <a:off x="-374808" y="4124576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F SUPER 05 BOLD" panose="02000803000000000000" pitchFamily="2" charset="0"/>
              </a:rPr>
              <a:t>Manual Testing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5AEC3D78-4DA0-F09D-18ED-1641FE64A009}"/>
              </a:ext>
            </a:extLst>
          </p:cNvPr>
          <p:cNvSpPr txBox="1"/>
          <p:nvPr/>
        </p:nvSpPr>
        <p:spPr>
          <a:xfrm>
            <a:off x="4632104" y="4122055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SF SUPER 05 BOLD" panose="02000803000000000000" pitchFamily="2" charset="0"/>
              </a:rPr>
              <a:t>Api testing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29147D60-6471-53DF-4F2B-F8C305AA2BBB}"/>
              </a:ext>
            </a:extLst>
          </p:cNvPr>
          <p:cNvSpPr txBox="1"/>
          <p:nvPr/>
        </p:nvSpPr>
        <p:spPr>
          <a:xfrm>
            <a:off x="847096" y="4596602"/>
            <a:ext cx="52489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Validate all driver cards load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algn="l"/>
            <a:endParaRPr lang="en-US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Check profile details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(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team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 nationality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 image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).</a:t>
            </a:r>
          </a:p>
          <a:p>
            <a:pPr algn="l"/>
            <a:endParaRPr lang="en-US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SF SUPER 05 BOLD" panose="02000803000000000000" pitchFamily="2" charset="0"/>
              </a:rPr>
              <a:t>Compare standings table vs API data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AD3BB9AE-DB00-678F-7CDD-03FD114F1219}"/>
              </a:ext>
            </a:extLst>
          </p:cNvPr>
          <p:cNvSpPr txBox="1"/>
          <p:nvPr/>
        </p:nvSpPr>
        <p:spPr>
          <a:xfrm>
            <a:off x="6276345" y="4652077"/>
            <a:ext cx="52537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drivers → validate total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&gt;=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 20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.</a:t>
            </a:r>
          </a:p>
          <a:p>
            <a:pPr algn="l"/>
            <a:endParaRPr lang="en-US" sz="1600" dirty="0">
              <a:solidFill>
                <a:srgbClr val="C00000"/>
              </a:solidFill>
              <a:latin typeface="+mj-lt"/>
            </a:endParaRPr>
          </a:p>
          <a:p>
            <a:pPr algn="l"/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standings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drivers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2024 → check first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= “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Verstappen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”.</a:t>
            </a:r>
          </a:p>
          <a:p>
            <a:pPr algn="l"/>
            <a:endParaRPr lang="en-US" sz="1600" dirty="0">
              <a:solidFill>
                <a:srgbClr val="C00000"/>
              </a:solidFill>
              <a:latin typeface="+mj-lt"/>
            </a:endParaRPr>
          </a:p>
          <a:p>
            <a:pPr algn="l"/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standings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constructors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2024 → validate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“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Red Bull Racing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405046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DAA3C-E8B8-9F9B-019E-BD987427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7C649D2-058E-B001-7E9D-78C1501F3ADC}"/>
              </a:ext>
            </a:extLst>
          </p:cNvPr>
          <p:cNvSpPr/>
          <p:nvPr/>
        </p:nvSpPr>
        <p:spPr>
          <a:xfrm>
            <a:off x="5312664" y="5689670"/>
            <a:ext cx="1158240" cy="111556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9C8009EE-644F-51D3-5B86-A26050515940}"/>
              </a:ext>
            </a:extLst>
          </p:cNvPr>
          <p:cNvSpPr txBox="1"/>
          <p:nvPr/>
        </p:nvSpPr>
        <p:spPr>
          <a:xfrm>
            <a:off x="867853" y="738439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SF SUPER 05 BOLD" panose="02000803000000000000" pitchFamily="2" charset="0"/>
              </a:rPr>
              <a:t>AHMED</a:t>
            </a:r>
            <a:r>
              <a:rPr lang="en-US" sz="66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A687B631-4A34-0B09-4D2A-98931B18FEF1}"/>
              </a:ext>
            </a:extLst>
          </p:cNvPr>
          <p:cNvSpPr txBox="1"/>
          <p:nvPr/>
        </p:nvSpPr>
        <p:spPr>
          <a:xfrm>
            <a:off x="1239328" y="1550171"/>
            <a:ext cx="6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F SUPER 05 BOLD" panose="02000803000000000000" pitchFamily="2" charset="0"/>
              </a:rPr>
              <a:t>MOZAMEL </a:t>
            </a:r>
          </a:p>
        </p:txBody>
      </p:sp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FF24B5E4-2D6F-72D7-8FD3-92B94EA4DD86}"/>
              </a:ext>
            </a:extLst>
          </p:cNvPr>
          <p:cNvSpPr/>
          <p:nvPr/>
        </p:nvSpPr>
        <p:spPr>
          <a:xfrm>
            <a:off x="657225" y="3429000"/>
            <a:ext cx="4895850" cy="250507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13">
            <a:extLst>
              <a:ext uri="{FF2B5EF4-FFF2-40B4-BE49-F238E27FC236}">
                <a16:creationId xmlns:a16="http://schemas.microsoft.com/office/drawing/2014/main" id="{EF3CC6D4-B78B-758A-BAC9-2AF563615DA8}"/>
              </a:ext>
            </a:extLst>
          </p:cNvPr>
          <p:cNvSpPr/>
          <p:nvPr/>
        </p:nvSpPr>
        <p:spPr>
          <a:xfrm>
            <a:off x="6296025" y="3429000"/>
            <a:ext cx="4996434" cy="25050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CD486E40-6CC0-25BD-F3CA-B8ED4829A748}"/>
              </a:ext>
            </a:extLst>
          </p:cNvPr>
          <p:cNvSpPr txBox="1"/>
          <p:nvPr/>
        </p:nvSpPr>
        <p:spPr>
          <a:xfrm>
            <a:off x="1969389" y="30484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F SUPER 05 BOLD" panose="02000803000000000000" pitchFamily="2" charset="0"/>
              </a:rPr>
              <a:t> Search </a:t>
            </a:r>
            <a:r>
              <a:rPr lang="en-US" sz="2000" dirty="0">
                <a:solidFill>
                  <a:srgbClr val="C00000"/>
                </a:solidFill>
                <a:latin typeface="SF SUPER 05 BOLD" panose="02000803000000000000" pitchFamily="2" charset="0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SF SUPER 05 BOLD" panose="02000803000000000000" pitchFamily="2" charset="0"/>
              </a:rPr>
              <a:t> Integration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083D89C4-035F-41E1-5A2C-F793E497E8B5}"/>
              </a:ext>
            </a:extLst>
          </p:cNvPr>
          <p:cNvSpPr txBox="1"/>
          <p:nvPr/>
        </p:nvSpPr>
        <p:spPr>
          <a:xfrm>
            <a:off x="867853" y="27178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F SUPER 05 BOLD" panose="02000803000000000000" pitchFamily="2" charset="0"/>
              </a:rPr>
              <a:t>News Videos</a:t>
            </a:r>
          </a:p>
        </p:txBody>
      </p:sp>
      <p:pic>
        <p:nvPicPr>
          <p:cNvPr id="9" name="رسم 8" descr="خنفساء مع تعبئة خالصة">
            <a:extLst>
              <a:ext uri="{FF2B5EF4-FFF2-40B4-BE49-F238E27FC236}">
                <a16:creationId xmlns:a16="http://schemas.microsoft.com/office/drawing/2014/main" id="{E68BF7C7-79E5-CCB7-E91B-7F00A12CB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230" y="3484768"/>
            <a:ext cx="571298" cy="571298"/>
          </a:xfrm>
          <a:prstGeom prst="rect">
            <a:avLst/>
          </a:prstGeom>
        </p:spPr>
      </p:pic>
      <p:pic>
        <p:nvPicPr>
          <p:cNvPr id="10" name="رسم 9" descr="محطة أمر طرفية مع تعبئة خالصة">
            <a:extLst>
              <a:ext uri="{FF2B5EF4-FFF2-40B4-BE49-F238E27FC236}">
                <a16:creationId xmlns:a16="http://schemas.microsoft.com/office/drawing/2014/main" id="{6EFC171E-641F-4ACB-A6EB-4089AED529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0904" y="3491339"/>
            <a:ext cx="509616" cy="509616"/>
          </a:xfrm>
          <a:prstGeom prst="rect">
            <a:avLst/>
          </a:prstGeom>
        </p:spPr>
      </p:pic>
      <p:sp>
        <p:nvSpPr>
          <p:cNvPr id="11" name="مربع نص 10">
            <a:extLst>
              <a:ext uri="{FF2B5EF4-FFF2-40B4-BE49-F238E27FC236}">
                <a16:creationId xmlns:a16="http://schemas.microsoft.com/office/drawing/2014/main" id="{42DF47C1-8C2A-A3E5-3FC1-68227B721127}"/>
              </a:ext>
            </a:extLst>
          </p:cNvPr>
          <p:cNvSpPr txBox="1"/>
          <p:nvPr/>
        </p:nvSpPr>
        <p:spPr>
          <a:xfrm>
            <a:off x="-303204" y="3466137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F SUPER 05 BOLD" panose="02000803000000000000" pitchFamily="2" charset="0"/>
              </a:rPr>
              <a:t>Manual Testing</a:t>
            </a:r>
          </a:p>
        </p:txBody>
      </p:sp>
      <p:sp>
        <p:nvSpPr>
          <p:cNvPr id="12" name="مربع نص 11">
            <a:extLst>
              <a:ext uri="{FF2B5EF4-FFF2-40B4-BE49-F238E27FC236}">
                <a16:creationId xmlns:a16="http://schemas.microsoft.com/office/drawing/2014/main" id="{C233CD33-E01C-BD31-181B-F9EA3BAC416A}"/>
              </a:ext>
            </a:extLst>
          </p:cNvPr>
          <p:cNvSpPr txBox="1"/>
          <p:nvPr/>
        </p:nvSpPr>
        <p:spPr>
          <a:xfrm>
            <a:off x="4560500" y="3453666"/>
            <a:ext cx="5289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SF SUPER 05 BOLD" panose="02000803000000000000" pitchFamily="2" charset="0"/>
              </a:rPr>
              <a:t>Api testing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0DD6FAF5-4EF0-8FB8-308C-A1226C550E50}"/>
              </a:ext>
            </a:extLst>
          </p:cNvPr>
          <p:cNvSpPr txBox="1"/>
          <p:nvPr/>
        </p:nvSpPr>
        <p:spPr>
          <a:xfrm>
            <a:off x="929396" y="3930664"/>
            <a:ext cx="471068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Open 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“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Latest News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”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page → verify article titles and filters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algn="l"/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Test video playback 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(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play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/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pause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resolution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captions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).</a:t>
            </a:r>
          </a:p>
          <a:p>
            <a:pPr algn="l"/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Use search bar → 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“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Ferrari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”,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verify results contain relevant articles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BAA91F11-0CC4-124E-B923-2AE972142EBA}"/>
              </a:ext>
            </a:extLst>
          </p:cNvPr>
          <p:cNvSpPr txBox="1"/>
          <p:nvPr/>
        </p:nvSpPr>
        <p:spPr>
          <a:xfrm>
            <a:off x="6296025" y="4120010"/>
            <a:ext cx="52537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constructors → ensure Ferrari exists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.</a:t>
            </a:r>
          </a:p>
          <a:p>
            <a:pPr algn="l"/>
            <a:endParaRPr lang="en-US" sz="1600" dirty="0">
              <a:solidFill>
                <a:srgbClr val="C00000"/>
              </a:solidFill>
              <a:latin typeface="+mj-lt"/>
            </a:endParaRPr>
          </a:p>
          <a:p>
            <a:pPr algn="l"/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GET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drivers → find drivers for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“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Ferrari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”.</a:t>
            </a:r>
          </a:p>
          <a:p>
            <a:pPr algn="l"/>
            <a:endParaRPr lang="en-US" sz="1600" dirty="0">
              <a:solidFill>
                <a:srgbClr val="C00000"/>
              </a:solidFill>
              <a:latin typeface="+mj-lt"/>
            </a:endParaRPr>
          </a:p>
          <a:p>
            <a:pPr algn="l"/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Validate 200 response and JSON content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.</a:t>
            </a:r>
            <a:r>
              <a:rPr lang="en-US" sz="1600" dirty="0">
                <a:solidFill>
                  <a:srgbClr val="C00000"/>
                </a:solidFill>
                <a:latin typeface="SF SUPER 05 BOLD" panose="02000803000000000000" pitchFamily="2" charset="0"/>
              </a:rPr>
              <a:t> </a:t>
            </a:r>
            <a:endParaRPr lang="en-US" sz="16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789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147D1-94E5-3CDC-699A-31CF910E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A00D406-D290-F12D-D2A4-1FF614AB436E}"/>
              </a:ext>
            </a:extLst>
          </p:cNvPr>
          <p:cNvSpPr/>
          <p:nvPr/>
        </p:nvSpPr>
        <p:spPr>
          <a:xfrm>
            <a:off x="5215794" y="201168"/>
            <a:ext cx="1158240" cy="1115568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200E0189-41C6-D8CF-4530-51E03E09AA41}"/>
              </a:ext>
            </a:extLst>
          </p:cNvPr>
          <p:cNvSpPr txBox="1"/>
          <p:nvPr/>
        </p:nvSpPr>
        <p:spPr>
          <a:xfrm>
            <a:off x="762769" y="1316736"/>
            <a:ext cx="66423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  <a:latin typeface="SF SUPER 05 BOLD" panose="02000803000000000000" pitchFamily="2" charset="0"/>
              </a:rPr>
              <a:t>AHMED</a:t>
            </a:r>
            <a:endParaRPr lang="en-US" sz="6600" dirty="0">
              <a:solidFill>
                <a:schemeClr val="bg1"/>
              </a:solidFill>
              <a:latin typeface="SF SUPER 05 BOLD" panose="02000803000000000000" pitchFamily="2" charset="0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BF016E73-C102-4A4E-3A12-99484CFB650C}"/>
              </a:ext>
            </a:extLst>
          </p:cNvPr>
          <p:cNvSpPr txBox="1"/>
          <p:nvPr/>
        </p:nvSpPr>
        <p:spPr>
          <a:xfrm>
            <a:off x="324928" y="2108869"/>
            <a:ext cx="6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SF SUPER 05 BOLD" panose="02000803000000000000" pitchFamily="2" charset="0"/>
              </a:rPr>
              <a:t>EHAB </a:t>
            </a:r>
          </a:p>
        </p:txBody>
      </p:sp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C2C4C750-4D5C-D72A-A7DA-F9769E832704}"/>
              </a:ext>
            </a:extLst>
          </p:cNvPr>
          <p:cNvSpPr/>
          <p:nvPr/>
        </p:nvSpPr>
        <p:spPr>
          <a:xfrm>
            <a:off x="1226629" y="3824332"/>
            <a:ext cx="9088946" cy="266368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F4ACD7F4-CF4C-7043-D4A5-B84784150065}"/>
              </a:ext>
            </a:extLst>
          </p:cNvPr>
          <p:cNvSpPr txBox="1"/>
          <p:nvPr/>
        </p:nvSpPr>
        <p:spPr>
          <a:xfrm>
            <a:off x="2518784" y="3340245"/>
            <a:ext cx="48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SF SUPER 05 BOLD" panose="02000803000000000000" pitchFamily="2" charset="0"/>
              </a:rPr>
              <a:t>AUTOMATION</a:t>
            </a:r>
            <a:r>
              <a:rPr lang="en-US" sz="2000" dirty="0">
                <a:solidFill>
                  <a:schemeClr val="bg1"/>
                </a:solidFill>
                <a:latin typeface="SF SUPER 05 BOLD" panose="02000803000000000000" pitchFamily="2" charset="0"/>
              </a:rPr>
              <a:t> TESTING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D42FD104-A329-F174-A159-7F249E4EE34A}"/>
              </a:ext>
            </a:extLst>
          </p:cNvPr>
          <p:cNvSpPr txBox="1"/>
          <p:nvPr/>
        </p:nvSpPr>
        <p:spPr>
          <a:xfrm>
            <a:off x="1524000" y="3933469"/>
            <a:ext cx="84105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Formula 1 website by developing automated test scripts using Selenium WebDriver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TestNG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and Java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.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  <a:p>
            <a:pPr algn="l"/>
            <a:endParaRPr lang="en-US" sz="1600" dirty="0">
              <a:solidFill>
                <a:schemeClr val="bg1"/>
              </a:solidFill>
              <a:latin typeface="SF SUPER 05 BOLD" panose="02000803000000000000" pitchFamily="2" charset="0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The work included building a structured automation framework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validating core website functionalities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executing test scenarios across different flows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and ensuring consistent performance and reliability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 algn="l"/>
            <a:endParaRPr lang="en-US" sz="1600" dirty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This automation effort increased test coverage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reduced manual testing time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,</a:t>
            </a:r>
            <a:r>
              <a:rPr lang="en-US" sz="1600" dirty="0">
                <a:solidFill>
                  <a:schemeClr val="bg1"/>
                </a:solidFill>
                <a:latin typeface="SF SUPER 05 BOLD" panose="02000803000000000000" pitchFamily="2" charset="0"/>
              </a:rPr>
              <a:t> and enhanced overall quality of the platform</a:t>
            </a:r>
            <a:r>
              <a:rPr lang="en-US" sz="1600" dirty="0">
                <a:solidFill>
                  <a:schemeClr val="bg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5884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724A1-444C-C98F-BD61-E49D6A28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شعار, الرسومات, لقطة شاشة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C3BBCAF-7493-48C5-FBE6-F5DE1F042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230" y="1166936"/>
            <a:ext cx="3646098" cy="2052984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207CBEFC-9318-CC3B-69F4-435D988AC5B6}"/>
              </a:ext>
            </a:extLst>
          </p:cNvPr>
          <p:cNvSpPr txBox="1"/>
          <p:nvPr/>
        </p:nvSpPr>
        <p:spPr>
          <a:xfrm>
            <a:off x="1239329" y="2524604"/>
            <a:ext cx="664234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1"/>
                </a:solidFill>
                <a:latin typeface="SF SUPER 05 BOLD" panose="02000803000000000000" pitchFamily="2" charset="0"/>
              </a:rPr>
              <a:t>Q</a:t>
            </a:r>
            <a:r>
              <a:rPr lang="en-US" sz="13800" dirty="0">
                <a:solidFill>
                  <a:srgbClr val="C00000"/>
                </a:solidFill>
                <a:latin typeface="SF SUPER 05 BOLD" panose="02000803000000000000" pitchFamily="2" charset="0"/>
              </a:rPr>
              <a:t> A</a:t>
            </a:r>
            <a:r>
              <a:rPr lang="en-US" sz="138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103C8536-28B4-7568-7CF2-3F0B8AF42F89}"/>
              </a:ext>
            </a:extLst>
          </p:cNvPr>
          <p:cNvSpPr txBox="1"/>
          <p:nvPr/>
        </p:nvSpPr>
        <p:spPr>
          <a:xfrm>
            <a:off x="772604" y="6410804"/>
            <a:ext cx="943819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1"/>
                </a:solidFill>
                <a:latin typeface="SF SUPER 05 BOLD" panose="02000803000000000000" pitchFamily="2" charset="0"/>
              </a:rPr>
              <a:t>THA</a:t>
            </a:r>
            <a:r>
              <a:rPr lang="en-US" sz="13800" dirty="0">
                <a:solidFill>
                  <a:srgbClr val="C00000"/>
                </a:solidFill>
                <a:latin typeface="SF SUPER 05 BOLD" panose="02000803000000000000" pitchFamily="2" charset="0"/>
              </a:rPr>
              <a:t>NKS</a:t>
            </a:r>
            <a:r>
              <a:rPr lang="en-US" sz="138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7380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713A1F-2AB0-4291-D237-8660E712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شعار, الرسومات, لقطة شاشة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A0181E03-ED76-2BCA-6344-9B2ED11F3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433" y="1152849"/>
            <a:ext cx="4169792" cy="2347858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526BC486-00A6-73D1-471D-7C8461DF9CAD}"/>
              </a:ext>
            </a:extLst>
          </p:cNvPr>
          <p:cNvSpPr txBox="1"/>
          <p:nvPr/>
        </p:nvSpPr>
        <p:spPr>
          <a:xfrm>
            <a:off x="696404" y="2715104"/>
            <a:ext cx="943819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chemeClr val="bg1"/>
                </a:solidFill>
                <a:latin typeface="SF SUPER 05 BOLD" panose="02000803000000000000" pitchFamily="2" charset="0"/>
              </a:rPr>
              <a:t>THA</a:t>
            </a:r>
            <a:r>
              <a:rPr lang="en-US" sz="13800" dirty="0">
                <a:solidFill>
                  <a:srgbClr val="C00000"/>
                </a:solidFill>
                <a:latin typeface="SF SUPER 05 BOLD" panose="02000803000000000000" pitchFamily="2" charset="0"/>
              </a:rPr>
              <a:t>NKS</a:t>
            </a:r>
            <a:r>
              <a:rPr lang="en-US" sz="13800" dirty="0">
                <a:solidFill>
                  <a:schemeClr val="bg1"/>
                </a:solidFill>
                <a:latin typeface="SF SUPER 05 BOLD" panose="02000803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6528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351</Words>
  <Application>Microsoft Office PowerPoint</Application>
  <PresentationFormat>شاشة عريضة</PresentationFormat>
  <Paragraphs>76</Paragraphs>
  <Slides>12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SF SUPER 05 BOLD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ehab</dc:creator>
  <cp:lastModifiedBy>ahmed ehab</cp:lastModifiedBy>
  <cp:revision>3</cp:revision>
  <dcterms:created xsi:type="dcterms:W3CDTF">2025-12-11T09:49:12Z</dcterms:created>
  <dcterms:modified xsi:type="dcterms:W3CDTF">2025-12-11T13:40:43Z</dcterms:modified>
</cp:coreProperties>
</file>